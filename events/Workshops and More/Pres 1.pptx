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68" r:id="rId14"/>
    <p:sldId id="277" r:id="rId15"/>
    <p:sldId id="270" r:id="rId16"/>
    <p:sldId id="271" r:id="rId17"/>
    <p:sldId id="274" r:id="rId18"/>
    <p:sldId id="275" r:id="rId19"/>
    <p:sldId id="272" r:id="rId20"/>
    <p:sldId id="273" r:id="rId21"/>
    <p:sldId id="259" r:id="rId22"/>
    <p:sldId id="27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A2ED5-7266-4EAE-8E0C-690C96B3C54B}" type="datetimeFigureOut">
              <a:rPr lang="en-US" smtClean="0"/>
              <a:t>12/22/2016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F8A4A-CCD1-440F-9AB6-526195FF0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351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A2ED5-7266-4EAE-8E0C-690C96B3C54B}" type="datetimeFigureOut">
              <a:rPr lang="en-US" smtClean="0"/>
              <a:t>12/22/2016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F8A4A-CCD1-440F-9AB6-526195FF0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114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A2ED5-7266-4EAE-8E0C-690C96B3C54B}" type="datetimeFigureOut">
              <a:rPr lang="en-US" smtClean="0"/>
              <a:t>12/22/2016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F8A4A-CCD1-440F-9AB6-526195FF0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706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A2ED5-7266-4EAE-8E0C-690C96B3C54B}" type="datetimeFigureOut">
              <a:rPr lang="en-US" smtClean="0"/>
              <a:t>12/22/2016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F8A4A-CCD1-440F-9AB6-526195FF0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869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A2ED5-7266-4EAE-8E0C-690C96B3C54B}" type="datetimeFigureOut">
              <a:rPr lang="en-US" smtClean="0"/>
              <a:t>12/22/2016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F8A4A-CCD1-440F-9AB6-526195FF0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884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A2ED5-7266-4EAE-8E0C-690C96B3C54B}" type="datetimeFigureOut">
              <a:rPr lang="en-US" smtClean="0"/>
              <a:t>12/22/2016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F8A4A-CCD1-440F-9AB6-526195FF0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245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A2ED5-7266-4EAE-8E0C-690C96B3C54B}" type="datetimeFigureOut">
              <a:rPr lang="en-US" smtClean="0"/>
              <a:t>12/22/2016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F8A4A-CCD1-440F-9AB6-526195FF0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915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A2ED5-7266-4EAE-8E0C-690C96B3C54B}" type="datetimeFigureOut">
              <a:rPr lang="en-US" smtClean="0"/>
              <a:t>12/22/2016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F8A4A-CCD1-440F-9AB6-526195FF0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823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A2ED5-7266-4EAE-8E0C-690C96B3C54B}" type="datetimeFigureOut">
              <a:rPr lang="en-US" smtClean="0"/>
              <a:t>12/22/2016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F8A4A-CCD1-440F-9AB6-526195FF0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96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A2ED5-7266-4EAE-8E0C-690C96B3C54B}" type="datetimeFigureOut">
              <a:rPr lang="en-US" smtClean="0"/>
              <a:t>12/22/2016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F8A4A-CCD1-440F-9AB6-526195FF0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951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A2ED5-7266-4EAE-8E0C-690C96B3C54B}" type="datetimeFigureOut">
              <a:rPr lang="en-US" smtClean="0"/>
              <a:t>12/22/2016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F8A4A-CCD1-440F-9AB6-526195FF0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795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8A2ED5-7266-4EAE-8E0C-690C96B3C54B}" type="datetimeFigureOut">
              <a:rPr lang="en-US" smtClean="0"/>
              <a:t>12/22/2016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AF8A4A-CCD1-440F-9AB6-526195FF0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879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 to Databases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CodeBreak</a:t>
            </a:r>
            <a:r>
              <a:rPr lang="en-US" dirty="0"/>
              <a:t> Winter 2016</a:t>
            </a:r>
          </a:p>
        </p:txBody>
      </p:sp>
    </p:spTree>
    <p:extLst>
      <p:ext uri="{BB962C8B-B14F-4D97-AF65-F5344CB8AC3E}">
        <p14:creationId xmlns:p14="http://schemas.microsoft.com/office/powerpoint/2010/main" val="3602725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979" y="0"/>
            <a:ext cx="10962042" cy="6851276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2856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This is a database!</a:t>
            </a:r>
          </a:p>
        </p:txBody>
      </p:sp>
    </p:spTree>
    <p:extLst>
      <p:ext uri="{BB962C8B-B14F-4D97-AF65-F5344CB8AC3E}">
        <p14:creationId xmlns:p14="http://schemas.microsoft.com/office/powerpoint/2010/main" val="2772129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Databases store stuff in a way that…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Reads/writes quickly</a:t>
            </a:r>
          </a:p>
          <a:p>
            <a:r>
              <a:rPr lang="en-US" dirty="0"/>
              <a:t>Can be searched, sorted,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Usually structured in a known way</a:t>
            </a:r>
          </a:p>
        </p:txBody>
      </p:sp>
    </p:spTree>
    <p:extLst>
      <p:ext uri="{BB962C8B-B14F-4D97-AF65-F5344CB8AC3E}">
        <p14:creationId xmlns:p14="http://schemas.microsoft.com/office/powerpoint/2010/main" val="1653458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Tables</a:t>
            </a:r>
            <a:r>
              <a:rPr lang="en-US" dirty="0"/>
              <a:t> store related data, e.g.</a:t>
            </a:r>
          </a:p>
          <a:p>
            <a:pPr lvl="1"/>
            <a:r>
              <a:rPr lang="en-US" dirty="0"/>
              <a:t>“</a:t>
            </a:r>
            <a:r>
              <a:rPr lang="en-US" dirty="0" err="1"/>
              <a:t>codedays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“attendees”</a:t>
            </a:r>
          </a:p>
          <a:p>
            <a:pPr lvl="1"/>
            <a:r>
              <a:rPr lang="en-US" dirty="0"/>
              <a:t>“projects”</a:t>
            </a:r>
          </a:p>
          <a:p>
            <a:r>
              <a:rPr lang="en-US" b="1" dirty="0"/>
              <a:t>Columns</a:t>
            </a:r>
            <a:r>
              <a:rPr lang="en-US" dirty="0"/>
              <a:t> group specific types of data, e.g. for “</a:t>
            </a:r>
            <a:r>
              <a:rPr lang="en-US" dirty="0" err="1"/>
              <a:t>codedays</a:t>
            </a:r>
            <a:r>
              <a:rPr lang="en-US" dirty="0"/>
              <a:t>”:</a:t>
            </a:r>
          </a:p>
          <a:p>
            <a:pPr lvl="1"/>
            <a:r>
              <a:rPr lang="en-US" dirty="0"/>
              <a:t>“starts”</a:t>
            </a:r>
          </a:p>
          <a:p>
            <a:pPr lvl="1"/>
            <a:r>
              <a:rPr lang="en-US" dirty="0"/>
              <a:t>“ends”</a:t>
            </a:r>
          </a:p>
          <a:p>
            <a:pPr lvl="1"/>
            <a:r>
              <a:rPr lang="en-US" dirty="0"/>
              <a:t>“name”</a:t>
            </a:r>
          </a:p>
          <a:p>
            <a:pPr lvl="1"/>
            <a:r>
              <a:rPr lang="en-US" dirty="0"/>
              <a:t>“address”</a:t>
            </a:r>
          </a:p>
          <a:p>
            <a:pPr lvl="1"/>
            <a:r>
              <a:rPr lang="en-US" dirty="0"/>
              <a:t>“capacity”</a:t>
            </a:r>
          </a:p>
          <a:p>
            <a:r>
              <a:rPr lang="en-US" b="1" dirty="0"/>
              <a:t>Rows </a:t>
            </a:r>
            <a:r>
              <a:rPr lang="en-US" dirty="0"/>
              <a:t>group entries</a:t>
            </a:r>
          </a:p>
        </p:txBody>
      </p:sp>
    </p:spTree>
    <p:extLst>
      <p:ext uri="{BB962C8B-B14F-4D97-AF65-F5344CB8AC3E}">
        <p14:creationId xmlns:p14="http://schemas.microsoft.com/office/powerpoint/2010/main" val="323718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“</a:t>
            </a:r>
            <a:r>
              <a:rPr lang="en-US" dirty="0" err="1"/>
              <a:t>codedays</a:t>
            </a:r>
            <a:r>
              <a:rPr lang="en-US" dirty="0"/>
              <a:t>” Table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6095712"/>
              </p:ext>
            </p:extLst>
          </p:nvPr>
        </p:nvGraphicFramePr>
        <p:xfrm>
          <a:off x="838200" y="1825625"/>
          <a:ext cx="10515600" cy="2931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28544300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15367627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89012454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66332050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405268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capacity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519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December</a:t>
                      </a:r>
                      <a:r>
                        <a:rPr lang="en-US" baseline="0" dirty="0"/>
                        <a:t> 17, 2011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December 18, 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CodeDay</a:t>
                      </a:r>
                      <a:r>
                        <a:rPr lang="en-US" dirty="0"/>
                        <a:t> Seattle December</a:t>
                      </a:r>
                      <a:r>
                        <a:rPr lang="en-US" baseline="0" dirty="0"/>
                        <a:t> 2011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StudentRND</a:t>
                      </a:r>
                      <a:r>
                        <a:rPr lang="en-US" dirty="0"/>
                        <a:t>,…, Bellevue WA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9587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February 11, 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February 12,</a:t>
                      </a:r>
                      <a:r>
                        <a:rPr lang="en-US" baseline="0" dirty="0"/>
                        <a:t> 2012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CodeDay</a:t>
                      </a:r>
                      <a:r>
                        <a:rPr lang="en-US" dirty="0"/>
                        <a:t> Seattle February 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StudentRND</a:t>
                      </a:r>
                      <a:r>
                        <a:rPr lang="en-US" dirty="0"/>
                        <a:t>, …,</a:t>
                      </a:r>
                    </a:p>
                    <a:p>
                      <a:r>
                        <a:rPr lang="en-US" dirty="0"/>
                        <a:t>Bellevue WA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6979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July 1, 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July 2, 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CodeDay</a:t>
                      </a:r>
                      <a:r>
                        <a:rPr lang="en-US" dirty="0"/>
                        <a:t> MEGA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ThinkSpace</a:t>
                      </a:r>
                      <a:r>
                        <a:rPr lang="en-US" dirty="0"/>
                        <a:t>, …, Redmond WA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920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August</a:t>
                      </a:r>
                      <a:r>
                        <a:rPr lang="en-US" baseline="0" dirty="0"/>
                        <a:t> 13, 2012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August 14, 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CodeDay</a:t>
                      </a:r>
                      <a:r>
                        <a:rPr lang="en-US" dirty="0"/>
                        <a:t> August</a:t>
                      </a:r>
                      <a:r>
                        <a:rPr lang="en-US" baseline="0" dirty="0"/>
                        <a:t> 2012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ThinkSpace</a:t>
                      </a:r>
                      <a:r>
                        <a:rPr lang="en-US" dirty="0"/>
                        <a:t>, …, Redmond WA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19203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38200" y="1456293"/>
            <a:ext cx="1317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`</a:t>
            </a:r>
            <a:r>
              <a:rPr lang="en-US" dirty="0" err="1"/>
              <a:t>codedays</a:t>
            </a:r>
            <a:r>
              <a:rPr lang="en-US" dirty="0"/>
              <a:t>`</a:t>
            </a:r>
          </a:p>
        </p:txBody>
      </p:sp>
    </p:spTree>
    <p:extLst>
      <p:ext uri="{BB962C8B-B14F-4D97-AF65-F5344CB8AC3E}">
        <p14:creationId xmlns:p14="http://schemas.microsoft.com/office/powerpoint/2010/main" val="291132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“Relational”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 we go from a student to an event?</a:t>
            </a:r>
          </a:p>
          <a:p>
            <a:r>
              <a:rPr lang="en-US" dirty="0"/>
              <a:t>Reference it!</a:t>
            </a:r>
          </a:p>
          <a:p>
            <a:r>
              <a:rPr lang="en-US" dirty="0"/>
              <a:t>Must be able to uniquely identify each object – give it an id.</a:t>
            </a:r>
          </a:p>
          <a:p>
            <a:pPr lvl="1"/>
            <a:r>
              <a:rPr lang="en-US" dirty="0"/>
              <a:t>Most databases can auto-generate a unique id (“</a:t>
            </a:r>
            <a:r>
              <a:rPr lang="en-US" dirty="0" err="1"/>
              <a:t>auto_increment</a:t>
            </a:r>
            <a:r>
              <a:rPr lang="en-US" dirty="0"/>
              <a:t>”)</a:t>
            </a:r>
          </a:p>
        </p:txBody>
      </p:sp>
    </p:spTree>
    <p:extLst>
      <p:ext uri="{BB962C8B-B14F-4D97-AF65-F5344CB8AC3E}">
        <p14:creationId xmlns:p14="http://schemas.microsoft.com/office/powerpoint/2010/main" val="2084422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we have…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2511388"/>
              </p:ext>
            </p:extLst>
          </p:nvPr>
        </p:nvGraphicFramePr>
        <p:xfrm>
          <a:off x="838200" y="1825625"/>
          <a:ext cx="10515600" cy="4302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175670241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28544300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15367627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89012454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66332050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405268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capacity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519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December</a:t>
                      </a:r>
                      <a:r>
                        <a:rPr lang="en-US" baseline="0" dirty="0"/>
                        <a:t> 17, 2011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December 18, 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CodeDay</a:t>
                      </a:r>
                      <a:r>
                        <a:rPr lang="en-US" dirty="0"/>
                        <a:t> Seattle December</a:t>
                      </a:r>
                      <a:r>
                        <a:rPr lang="en-US" baseline="0" dirty="0"/>
                        <a:t> 2011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StudentRND</a:t>
                      </a:r>
                      <a:r>
                        <a:rPr lang="en-US" dirty="0"/>
                        <a:t>,…, Bellevue WA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9587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February 11, 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February 12,</a:t>
                      </a:r>
                      <a:r>
                        <a:rPr lang="en-US" baseline="0" dirty="0"/>
                        <a:t> 2012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CodeDay</a:t>
                      </a:r>
                      <a:r>
                        <a:rPr lang="en-US" dirty="0"/>
                        <a:t> Seattle February 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StudentRND</a:t>
                      </a:r>
                      <a:r>
                        <a:rPr lang="en-US" dirty="0"/>
                        <a:t>, …,</a:t>
                      </a:r>
                    </a:p>
                    <a:p>
                      <a:r>
                        <a:rPr lang="en-US" dirty="0"/>
                        <a:t>Bellevue WA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6979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July 1, 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July 2, 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CodeDay</a:t>
                      </a:r>
                      <a:r>
                        <a:rPr lang="en-US" dirty="0"/>
                        <a:t> MEGA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ThinkSpace</a:t>
                      </a:r>
                      <a:r>
                        <a:rPr lang="en-US" dirty="0"/>
                        <a:t>, …, Redmond WA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920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August</a:t>
                      </a:r>
                      <a:r>
                        <a:rPr lang="en-US" baseline="0" dirty="0"/>
                        <a:t> 13, 2012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August 14, 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CodeDay</a:t>
                      </a:r>
                      <a:r>
                        <a:rPr lang="en-US" dirty="0"/>
                        <a:t> August</a:t>
                      </a:r>
                      <a:r>
                        <a:rPr lang="en-US" baseline="0" dirty="0"/>
                        <a:t> 2012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ThinkSpace</a:t>
                      </a:r>
                      <a:r>
                        <a:rPr lang="en-US" dirty="0"/>
                        <a:t>, …, Redmond WA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19203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38200" y="1456293"/>
            <a:ext cx="1317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`</a:t>
            </a:r>
            <a:r>
              <a:rPr lang="en-US" dirty="0" err="1"/>
              <a:t>codedays</a:t>
            </a:r>
            <a:r>
              <a:rPr lang="en-US" dirty="0"/>
              <a:t>`</a:t>
            </a:r>
          </a:p>
        </p:txBody>
      </p:sp>
    </p:spTree>
    <p:extLst>
      <p:ext uri="{BB962C8B-B14F-4D97-AF65-F5344CB8AC3E}">
        <p14:creationId xmlns:p14="http://schemas.microsoft.com/office/powerpoint/2010/main" val="1494434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Tracking ticket sales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7180528"/>
              </p:ext>
            </p:extLst>
          </p:nvPr>
        </p:nvGraphicFramePr>
        <p:xfrm>
          <a:off x="838200" y="1825625"/>
          <a:ext cx="105156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46531553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88628248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908269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83162573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4482781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first_name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last_name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codeday_id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593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Menezes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tyler@srnd.org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9387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Ryman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adam@srnd.org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4566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Jiang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edj@srnd.org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6520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Ryman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tyler@srnd.org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4984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Jiang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edj@srnd.org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241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Menezes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tyler@srnd.org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3229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Kevin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Beason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kevin@srnd.org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7167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Zaq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Wiedmann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zaq@srnd.org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0536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38200" y="1456293"/>
            <a:ext cx="1346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`attendees`</a:t>
            </a:r>
          </a:p>
        </p:txBody>
      </p:sp>
    </p:spTree>
    <p:extLst>
      <p:ext uri="{BB962C8B-B14F-4D97-AF65-F5344CB8AC3E}">
        <p14:creationId xmlns:p14="http://schemas.microsoft.com/office/powerpoint/2010/main" val="2286645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“What’s the name of the </a:t>
            </a:r>
            <a:r>
              <a:rPr lang="en-US" dirty="0" err="1"/>
              <a:t>CodeDay</a:t>
            </a:r>
            <a:r>
              <a:rPr lang="en-US" dirty="0"/>
              <a:t> that Kevin went to?”</a:t>
            </a:r>
          </a:p>
        </p:txBody>
      </p:sp>
      <p:graphicFrame>
        <p:nvGraphicFramePr>
          <p:cNvPr id="4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0444036"/>
              </p:ext>
            </p:extLst>
          </p:nvPr>
        </p:nvGraphicFramePr>
        <p:xfrm>
          <a:off x="838200" y="2557145"/>
          <a:ext cx="105156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46531553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88628248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908269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83162573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4482781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first_name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last_name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codeday_id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593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Kevin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Beason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kevin@srnd.org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7167135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44573573"/>
              </p:ext>
            </p:extLst>
          </p:nvPr>
        </p:nvGraphicFramePr>
        <p:xfrm>
          <a:off x="838200" y="4030943"/>
          <a:ext cx="10515600" cy="1285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175670241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28544300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15367627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89012454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66332050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405268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capacity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519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February 11, 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February 12,</a:t>
                      </a:r>
                      <a:r>
                        <a:rPr lang="en-US" baseline="0" dirty="0"/>
                        <a:t> 2012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CodeDay</a:t>
                      </a:r>
                      <a:r>
                        <a:rPr lang="en-US" dirty="0"/>
                        <a:t> Seattle February 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StudentRND</a:t>
                      </a:r>
                      <a:r>
                        <a:rPr lang="en-US" dirty="0"/>
                        <a:t>, …,</a:t>
                      </a:r>
                    </a:p>
                    <a:p>
                      <a:r>
                        <a:rPr lang="en-US" dirty="0"/>
                        <a:t>Bellevue WA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6979332"/>
                  </a:ext>
                </a:extLst>
              </a:tr>
            </a:tbl>
          </a:graphicData>
        </a:graphic>
      </p:graphicFrame>
      <p:sp>
        <p:nvSpPr>
          <p:cNvPr id="6" name="Oval 5"/>
          <p:cNvSpPr/>
          <p:nvPr/>
        </p:nvSpPr>
        <p:spPr>
          <a:xfrm>
            <a:off x="8987118" y="2422208"/>
            <a:ext cx="1910378" cy="112955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/>
          <p:cNvCxnSpPr>
            <a:stCxn id="6" idx="3"/>
          </p:cNvCxnSpPr>
          <p:nvPr/>
        </p:nvCxnSpPr>
        <p:spPr>
          <a:xfrm flipH="1">
            <a:off x="1161826" y="3386342"/>
            <a:ext cx="8105060" cy="1174900"/>
          </a:xfrm>
          <a:prstGeom prst="line">
            <a:avLst/>
          </a:prstGeom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38200" y="2187813"/>
            <a:ext cx="1346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`attendees`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668157"/>
            <a:ext cx="1317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`</a:t>
            </a:r>
            <a:r>
              <a:rPr lang="en-US" dirty="0" err="1"/>
              <a:t>codedays</a:t>
            </a:r>
            <a:r>
              <a:rPr lang="en-US" dirty="0"/>
              <a:t>`</a:t>
            </a:r>
          </a:p>
        </p:txBody>
      </p:sp>
    </p:spTree>
    <p:extLst>
      <p:ext uri="{BB962C8B-B14F-4D97-AF65-F5344CB8AC3E}">
        <p14:creationId xmlns:p14="http://schemas.microsoft.com/office/powerpoint/2010/main" val="27861621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you create/edit/see the tables?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It’s not like Excel</a:t>
            </a:r>
          </a:p>
          <a:p>
            <a:r>
              <a:rPr lang="en-US" dirty="0"/>
              <a:t>You have to use “SQL”</a:t>
            </a:r>
          </a:p>
          <a:p>
            <a:r>
              <a:rPr lang="en-US" dirty="0"/>
              <a:t>“Structured Query Language”</a:t>
            </a:r>
          </a:p>
          <a:p>
            <a:r>
              <a:rPr lang="en-US" dirty="0"/>
              <a:t>Like with Java or Python, you have to write in a </a:t>
            </a:r>
            <a:r>
              <a:rPr lang="en-US"/>
              <a:t>specific format</a:t>
            </a:r>
            <a:br>
              <a:rPr lang="en-US" dirty="0"/>
            </a:br>
            <a:endParaRPr lang="en-US" dirty="0"/>
          </a:p>
          <a:p>
            <a:r>
              <a:rPr lang="en-US" dirty="0"/>
              <a:t>In the command line (“</a:t>
            </a:r>
            <a:r>
              <a:rPr lang="en-US" dirty="0" err="1"/>
              <a:t>mysql</a:t>
            </a:r>
            <a:r>
              <a:rPr lang="en-US" dirty="0"/>
              <a:t>”) or from a program</a:t>
            </a:r>
          </a:p>
        </p:txBody>
      </p:sp>
    </p:spTree>
    <p:extLst>
      <p:ext uri="{BB962C8B-B14F-4D97-AF65-F5344CB8AC3E}">
        <p14:creationId xmlns:p14="http://schemas.microsoft.com/office/powerpoint/2010/main" val="1980050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* FROM attendees;</a:t>
            </a:r>
          </a:p>
        </p:txBody>
      </p:sp>
      <p:graphicFrame>
        <p:nvGraphicFramePr>
          <p:cNvPr id="4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6673920"/>
              </p:ext>
            </p:extLst>
          </p:nvPr>
        </p:nvGraphicFramePr>
        <p:xfrm>
          <a:off x="838200" y="2814713"/>
          <a:ext cx="105156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46531553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88628248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908269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83162573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4482781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first_name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last_name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codeday_id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593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Menezes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tyler@srnd.org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9387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Ryman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adam@srnd.org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4566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Jiang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edj@srnd.org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6520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Ryman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tyler@srnd.org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4984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Jiang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edj@srnd.org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241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Menezes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tyler@srnd.org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3229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Kevin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Beason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kevin@srnd.org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7167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Zaq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Wiedmann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zaq@srnd.org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0536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38200" y="2445381"/>
            <a:ext cx="1346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`attendees`</a:t>
            </a:r>
          </a:p>
        </p:txBody>
      </p:sp>
    </p:spTree>
    <p:extLst>
      <p:ext uri="{BB962C8B-B14F-4D97-AF65-F5344CB8AC3E}">
        <p14:creationId xmlns:p14="http://schemas.microsoft.com/office/powerpoint/2010/main" val="2032608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Being more </a:t>
            </a:r>
            <a:r>
              <a:rPr lang="en-US" dirty="0" err="1"/>
              <a:t>SELECTive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id, email FROM attendees;</a:t>
            </a:r>
          </a:p>
        </p:txBody>
      </p:sp>
      <p:graphicFrame>
        <p:nvGraphicFramePr>
          <p:cNvPr id="4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12984595"/>
              </p:ext>
            </p:extLst>
          </p:nvPr>
        </p:nvGraphicFramePr>
        <p:xfrm>
          <a:off x="838200" y="2814713"/>
          <a:ext cx="420624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46531553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831625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593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tyler@srnd.org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9387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adam@srnd.org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4566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edj@srnd.org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6520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tyler@srnd.org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4984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edj@srnd.org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241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tyler@srnd.org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3229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kevin@srnd.org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7167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zaq@srnd.org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0536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38200" y="2445381"/>
            <a:ext cx="1346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`attendees`</a:t>
            </a:r>
          </a:p>
        </p:txBody>
      </p:sp>
    </p:spTree>
    <p:extLst>
      <p:ext uri="{BB962C8B-B14F-4D97-AF65-F5344CB8AC3E}">
        <p14:creationId xmlns:p14="http://schemas.microsoft.com/office/powerpoint/2010/main" val="35093832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clause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* FROM attendees WHERE </a:t>
            </a:r>
            <a:r>
              <a:rPr lang="en-US" dirty="0" err="1"/>
              <a:t>first_name</a:t>
            </a:r>
            <a:r>
              <a:rPr lang="en-US" dirty="0"/>
              <a:t> = “Tyler”;</a:t>
            </a:r>
          </a:p>
        </p:txBody>
      </p:sp>
      <p:graphicFrame>
        <p:nvGraphicFramePr>
          <p:cNvPr id="4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57225471"/>
              </p:ext>
            </p:extLst>
          </p:nvPr>
        </p:nvGraphicFramePr>
        <p:xfrm>
          <a:off x="838200" y="2814713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46531553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88628248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908269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83162573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4482781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first_name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last_name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codeday_id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593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Menezes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tyler@srnd.org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9387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Menezes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tyler@srnd.org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322951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38200" y="2445381"/>
            <a:ext cx="1346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`attendees`</a:t>
            </a:r>
          </a:p>
        </p:txBody>
      </p:sp>
    </p:spTree>
    <p:extLst>
      <p:ext uri="{BB962C8B-B14F-4D97-AF65-F5344CB8AC3E}">
        <p14:creationId xmlns:p14="http://schemas.microsoft.com/office/powerpoint/2010/main" val="23187747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(the </a:t>
            </a:r>
            <a:r>
              <a:rPr lang="en-US" i="1" dirty="0"/>
              <a:t>relational</a:t>
            </a:r>
            <a:r>
              <a:rPr lang="en-US" dirty="0"/>
              <a:t> part)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</a:t>
            </a:r>
            <a:r>
              <a:rPr lang="en-US" dirty="0" err="1"/>
              <a:t>attendees.first_name</a:t>
            </a:r>
            <a:r>
              <a:rPr lang="en-US" dirty="0"/>
              <a:t>, codedays.name</a:t>
            </a:r>
            <a:br>
              <a:rPr lang="en-US" dirty="0"/>
            </a:br>
            <a:r>
              <a:rPr lang="en-US" dirty="0"/>
              <a:t>FROM attendees</a:t>
            </a:r>
            <a:br>
              <a:rPr lang="en-US" dirty="0"/>
            </a:br>
            <a:r>
              <a:rPr lang="en-US" dirty="0"/>
              <a:t>INNER JOIN </a:t>
            </a:r>
            <a:r>
              <a:rPr lang="en-US" dirty="0" err="1"/>
              <a:t>codedays</a:t>
            </a:r>
            <a:r>
              <a:rPr lang="en-US" dirty="0"/>
              <a:t> ON </a:t>
            </a:r>
            <a:r>
              <a:rPr lang="en-US" dirty="0" err="1"/>
              <a:t>attendees.codeday_id</a:t>
            </a:r>
            <a:r>
              <a:rPr lang="en-US" dirty="0"/>
              <a:t> = codedays.id</a:t>
            </a:r>
            <a:br>
              <a:rPr lang="en-US" dirty="0"/>
            </a:br>
            <a:r>
              <a:rPr lang="en-US" dirty="0"/>
              <a:t>WHERE </a:t>
            </a:r>
            <a:r>
              <a:rPr lang="en-US" dirty="0" err="1"/>
              <a:t>first_name</a:t>
            </a:r>
            <a:r>
              <a:rPr lang="en-US" dirty="0"/>
              <a:t> = “Tyler”;</a:t>
            </a:r>
          </a:p>
        </p:txBody>
      </p:sp>
      <p:graphicFrame>
        <p:nvGraphicFramePr>
          <p:cNvPr id="4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6422357"/>
              </p:ext>
            </p:extLst>
          </p:nvPr>
        </p:nvGraphicFramePr>
        <p:xfrm>
          <a:off x="838200" y="4525963"/>
          <a:ext cx="4206240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88628248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4482781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first_name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593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Tyler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CodeDay</a:t>
                      </a:r>
                      <a:r>
                        <a:rPr lang="en-US" baseline="0" dirty="0"/>
                        <a:t> Seattle December 2011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9387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Tyler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CodeDay</a:t>
                      </a:r>
                      <a:r>
                        <a:rPr lang="en-US" baseline="0" dirty="0"/>
                        <a:t> Seattle February 2012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322951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38200" y="4156631"/>
            <a:ext cx="1346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`attendees`</a:t>
            </a:r>
          </a:p>
        </p:txBody>
      </p:sp>
    </p:spTree>
    <p:extLst>
      <p:ext uri="{BB962C8B-B14F-4D97-AF65-F5344CB8AC3E}">
        <p14:creationId xmlns:p14="http://schemas.microsoft.com/office/powerpoint/2010/main" val="4050321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INSERT, UPDATE, CREATE TABLE, </a:t>
            </a:r>
            <a:r>
              <a:rPr lang="en-US" dirty="0" err="1"/>
              <a:t>etc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Google it!</a:t>
            </a:r>
          </a:p>
        </p:txBody>
      </p:sp>
    </p:spTree>
    <p:extLst>
      <p:ext uri="{BB962C8B-B14F-4D97-AF65-F5344CB8AC3E}">
        <p14:creationId xmlns:p14="http://schemas.microsoft.com/office/powerpoint/2010/main" val="38533078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this help me?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You app generates SQL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Send the SQL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Get the results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???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Profit</a:t>
            </a:r>
          </a:p>
        </p:txBody>
      </p:sp>
    </p:spTree>
    <p:extLst>
      <p:ext uri="{BB962C8B-B14F-4D97-AF65-F5344CB8AC3E}">
        <p14:creationId xmlns:p14="http://schemas.microsoft.com/office/powerpoint/2010/main" val="16767111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SQL is annoying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an “ORM” – Object Relational Mapper</a:t>
            </a:r>
            <a:br>
              <a:rPr lang="en-US" dirty="0"/>
            </a:br>
            <a:endParaRPr lang="en-US" dirty="0"/>
          </a:p>
          <a:p>
            <a:r>
              <a:rPr lang="en-US" dirty="0"/>
              <a:t>SELECT e.g.:</a:t>
            </a:r>
            <a:br>
              <a:rPr lang="en-US" dirty="0"/>
            </a:br>
            <a:r>
              <a:rPr lang="en-US" dirty="0" err="1"/>
              <a:t>var</a:t>
            </a:r>
            <a:r>
              <a:rPr lang="en-US" dirty="0"/>
              <a:t> me = </a:t>
            </a:r>
            <a:r>
              <a:rPr lang="en-US" dirty="0" err="1"/>
              <a:t>Users.Where</a:t>
            </a:r>
            <a:r>
              <a:rPr lang="en-US" dirty="0"/>
              <a:t>(“username”, “=“, “tylermenezes”).First();</a:t>
            </a:r>
            <a:br>
              <a:rPr lang="en-US" dirty="0"/>
            </a:br>
            <a:endParaRPr lang="en-US" dirty="0"/>
          </a:p>
          <a:p>
            <a:r>
              <a:rPr lang="en-US" dirty="0"/>
              <a:t>UPDATE e.g.:</a:t>
            </a:r>
            <a:br>
              <a:rPr lang="en-US" dirty="0"/>
            </a:br>
            <a:r>
              <a:rPr lang="en-US" dirty="0" err="1"/>
              <a:t>me.FirstName</a:t>
            </a:r>
            <a:r>
              <a:rPr lang="en-US" dirty="0"/>
              <a:t> = “</a:t>
            </a:r>
            <a:r>
              <a:rPr lang="en-US" dirty="0" err="1"/>
              <a:t>TylerIsTheBest</a:t>
            </a:r>
            <a:r>
              <a:rPr lang="en-US" dirty="0"/>
              <a:t>”;</a:t>
            </a:r>
            <a:br>
              <a:rPr lang="en-US" dirty="0"/>
            </a:br>
            <a:r>
              <a:rPr lang="en-US" dirty="0" err="1"/>
              <a:t>me.Save</a:t>
            </a:r>
            <a:r>
              <a:rPr lang="en-US" dirty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26338425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“SQL Injection”:</a:t>
            </a:r>
          </a:p>
          <a:p>
            <a:pPr lvl="1"/>
            <a:r>
              <a:rPr lang="en-US" dirty="0"/>
              <a:t>SELECT * FROM users WHERE username = “$USERNAME”;</a:t>
            </a:r>
          </a:p>
          <a:p>
            <a:pPr lvl="1"/>
            <a:r>
              <a:rPr lang="en-US" dirty="0"/>
              <a:t>What if $USERNAME is set to “; DROP TABLE users; --</a:t>
            </a:r>
          </a:p>
          <a:p>
            <a:pPr lvl="1"/>
            <a:r>
              <a:rPr lang="en-US" dirty="0"/>
              <a:t>SELECT * FROM users WHERE username = “”; DROP TABLE users;</a:t>
            </a:r>
          </a:p>
          <a:p>
            <a:pPr lvl="1"/>
            <a:r>
              <a:rPr lang="en-US" dirty="0"/>
              <a:t>(-- comments everything else out)</a:t>
            </a:r>
            <a:br>
              <a:rPr lang="en-US" dirty="0"/>
            </a:br>
            <a:endParaRPr lang="en-US" dirty="0"/>
          </a:p>
          <a:p>
            <a:r>
              <a:rPr lang="en-US" dirty="0"/>
              <a:t>Permissions</a:t>
            </a:r>
          </a:p>
          <a:p>
            <a:pPr lvl="1"/>
            <a:r>
              <a:rPr lang="en-US" dirty="0"/>
              <a:t>Don’t put passwords in client apps.</a:t>
            </a:r>
          </a:p>
        </p:txBody>
      </p:sp>
    </p:spTree>
    <p:extLst>
      <p:ext uri="{BB962C8B-B14F-4D97-AF65-F5344CB8AC3E}">
        <p14:creationId xmlns:p14="http://schemas.microsoft.com/office/powerpoint/2010/main" val="1948130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Database Providers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SQLite</a:t>
            </a:r>
          </a:p>
          <a:p>
            <a:pPr lvl="1"/>
            <a:r>
              <a:rPr lang="en-US" dirty="0"/>
              <a:t>Stores the data in a file, kind of like an Excel workbook</a:t>
            </a:r>
          </a:p>
          <a:p>
            <a:pPr lvl="1"/>
            <a:r>
              <a:rPr lang="en-US" dirty="0"/>
              <a:t>Not that fast</a:t>
            </a:r>
          </a:p>
          <a:p>
            <a:pPr lvl="1"/>
            <a:r>
              <a:rPr lang="en-US" dirty="0"/>
              <a:t>Not great for multiple users</a:t>
            </a:r>
            <a:br>
              <a:rPr lang="en-US" dirty="0"/>
            </a:br>
            <a:endParaRPr lang="en-US" dirty="0"/>
          </a:p>
          <a:p>
            <a:r>
              <a:rPr lang="en-US" dirty="0"/>
              <a:t>MySQL</a:t>
            </a:r>
          </a:p>
          <a:p>
            <a:pPr lvl="1"/>
            <a:r>
              <a:rPr lang="en-US" dirty="0"/>
              <a:t>Most common</a:t>
            </a:r>
          </a:p>
          <a:p>
            <a:pPr lvl="1"/>
            <a:r>
              <a:rPr lang="en-US" dirty="0"/>
              <a:t>“Server” – you need to be running MySQL in the background all the time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9519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 Common Database Providers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MariaDB</a:t>
            </a:r>
            <a:endParaRPr lang="en-US" dirty="0"/>
          </a:p>
          <a:p>
            <a:pPr lvl="1"/>
            <a:r>
              <a:rPr lang="en-US" dirty="0"/>
              <a:t>MySQL for people who don’t like Oracle (which owns MySQL)</a:t>
            </a:r>
          </a:p>
          <a:p>
            <a:pPr lvl="1"/>
            <a:r>
              <a:rPr lang="en-US" dirty="0"/>
              <a:t>Literally just MySQL</a:t>
            </a:r>
          </a:p>
          <a:p>
            <a:pPr lvl="1"/>
            <a:r>
              <a:rPr lang="en-US" dirty="0"/>
              <a:t>Still says MySQL in many places</a:t>
            </a:r>
            <a:br>
              <a:rPr lang="en-US" dirty="0"/>
            </a:br>
            <a:endParaRPr lang="en-US" dirty="0"/>
          </a:p>
          <a:p>
            <a:r>
              <a:rPr lang="en-US" dirty="0"/>
              <a:t>Postgres</a:t>
            </a:r>
          </a:p>
          <a:p>
            <a:pPr lvl="1"/>
            <a:r>
              <a:rPr lang="en-US" dirty="0"/>
              <a:t>Like MySQL but faster and with more features</a:t>
            </a:r>
          </a:p>
          <a:p>
            <a:pPr lvl="1"/>
            <a:r>
              <a:rPr lang="en-US" dirty="0"/>
              <a:t>More confusing</a:t>
            </a:r>
          </a:p>
        </p:txBody>
      </p:sp>
    </p:spTree>
    <p:extLst>
      <p:ext uri="{BB962C8B-B14F-4D97-AF65-F5344CB8AC3E}">
        <p14:creationId xmlns:p14="http://schemas.microsoft.com/office/powerpoint/2010/main" val="16187181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“NoSQL”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Uses SQL</a:t>
            </a:r>
          </a:p>
          <a:p>
            <a:r>
              <a:rPr lang="en-US" dirty="0"/>
              <a:t>Poorly named by internet hipsters in 2010-ish</a:t>
            </a:r>
          </a:p>
          <a:p>
            <a:r>
              <a:rPr lang="en-US" dirty="0"/>
              <a:t>Has existed for longer than “SQL”</a:t>
            </a:r>
          </a:p>
          <a:p>
            <a:r>
              <a:rPr lang="en-US" dirty="0"/>
              <a:t>Anything that stores data “non-relationally”</a:t>
            </a:r>
          </a:p>
          <a:p>
            <a:r>
              <a:rPr lang="en-US" dirty="0"/>
              <a:t>Can literally just be a Dictionary, or something that stores “documents”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2706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</a:t>
            </a:r>
            <a:r>
              <a:rPr lang="en-US" strike="sngStrike" dirty="0"/>
              <a:t>Reading</a:t>
            </a:r>
            <a:r>
              <a:rPr lang="en-US" dirty="0"/>
              <a:t> Googling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“MySQL Getting Started”</a:t>
            </a:r>
          </a:p>
          <a:p>
            <a:r>
              <a:rPr lang="en-US" dirty="0"/>
              <a:t>“ORM [Your Language of Choice]”</a:t>
            </a:r>
          </a:p>
        </p:txBody>
      </p:sp>
    </p:spTree>
    <p:extLst>
      <p:ext uri="{BB962C8B-B14F-4D97-AF65-F5344CB8AC3E}">
        <p14:creationId xmlns:p14="http://schemas.microsoft.com/office/powerpoint/2010/main" val="2702443851"/>
      </p:ext>
    </p:extLst>
  </p:cSld>
  <p:clrMapOvr>
    <a:masterClrMapping/>
  </p:clrMapOvr>
</p:sld>
</file>

<file path=ppt/theme/theme1.xml><?xml version="1.0" encoding="utf-8"?>
<a:theme xmlns:a="http://schemas.openxmlformats.org/drawingml/2006/main" name="StudentRND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StudentRND">
      <a:majorFont>
        <a:latin typeface="Avenir Next Demi Bold"/>
        <a:ea typeface=""/>
        <a:cs typeface=""/>
      </a:majorFont>
      <a:minorFont>
        <a:latin typeface="Avenir N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7322896-2761-4DA3-A9DC-87A7B73A0441}" vid="{C2E2F4A8-72EF-454E-B0E5-48FCC16CC0E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</TotalTime>
  <Words>767</Words>
  <Application>Microsoft Office PowerPoint</Application>
  <PresentationFormat>Widescreen</PresentationFormat>
  <Paragraphs>305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Avenir Next</vt:lpstr>
      <vt:lpstr>Avenir Next Demi Bold</vt:lpstr>
      <vt:lpstr>StudentRND</vt:lpstr>
      <vt:lpstr>Intro to Databases</vt:lpstr>
      <vt:lpstr>This is a database!</vt:lpstr>
      <vt:lpstr>Databases store stuff in a way that…</vt:lpstr>
      <vt:lpstr>Structured Format</vt:lpstr>
      <vt:lpstr>Example “codedays” Table</vt:lpstr>
      <vt:lpstr>“Relational”</vt:lpstr>
      <vt:lpstr>Now we have…</vt:lpstr>
      <vt:lpstr>Tracking ticket sales</vt:lpstr>
      <vt:lpstr>“What’s the name of the CodeDay that Kevin went to?”</vt:lpstr>
      <vt:lpstr>How do you create/edit/see the tables?</vt:lpstr>
      <vt:lpstr>SELECT</vt:lpstr>
      <vt:lpstr>Being more SELECTive</vt:lpstr>
      <vt:lpstr>WHERE clause</vt:lpstr>
      <vt:lpstr>JOIN (the relational part)</vt:lpstr>
      <vt:lpstr>INSERT, UPDATE, CREATE TABLE, etc</vt:lpstr>
      <vt:lpstr>How does this help me?</vt:lpstr>
      <vt:lpstr>Generating SQL is annoying</vt:lpstr>
      <vt:lpstr>Security</vt:lpstr>
      <vt:lpstr>Common Database Providers</vt:lpstr>
      <vt:lpstr>Less Common Database Providers</vt:lpstr>
      <vt:lpstr>“NoSQL”</vt:lpstr>
      <vt:lpstr>Further Reading Googling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Databases</dc:title>
  <dc:creator>Tyler Menezes</dc:creator>
  <cp:lastModifiedBy>Tyler Menezes</cp:lastModifiedBy>
  <cp:revision>13</cp:revision>
  <dcterms:created xsi:type="dcterms:W3CDTF">2016-12-22T23:16:47Z</dcterms:created>
  <dcterms:modified xsi:type="dcterms:W3CDTF">2016-12-23T00:50:37Z</dcterms:modified>
</cp:coreProperties>
</file>